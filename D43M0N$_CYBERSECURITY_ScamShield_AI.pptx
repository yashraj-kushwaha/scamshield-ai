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1905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5303520" cy="347472"/>
          </a:xfrm>
          <a:prstGeom prst="roundRect">
            <a:avLst/>
          </a:prstGeom>
          <a:solidFill>
            <a:srgbClr val="12264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IEEE VIT BHOPAL HACKATHON 2026 · TRACK 04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ScamShield AI</a:t>
            </a:r>
          </a:p>
          <a:p>
            <a:pPr>
              <a:spcBef>
                <a:spcPts val="600"/>
              </a:spcBef>
              <a:defRPr sz="1900" b="1">
                <a:solidFill>
                  <a:srgbClr val="06B6D4"/>
                </a:solidFill>
                <a:latin typeface="Segoe UI"/>
              </a:defRPr>
            </a:pPr>
            <a:r>
              <a:t>Pre-Click Zero-Trust Phishing &amp; UPI Fraud Defense Platform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Problem Statement 04.1: 'The Scam That Almost Worked' — Neutralizing financial coercion, deceptive UPI QR collects, and typosquatted banking clones at the human decision point before credentials or capital travel across the wire.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2542032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Zero-Trust Client-Edge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100% Client-side privacy &amp; inspection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3611880"/>
            <a:ext cx="2542032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Multilingual NLP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Devanagari Hindi + Hinglish Panic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3611880"/>
            <a:ext cx="2542032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UPI Protocol Guard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Reverse-charge debit collect trap prevention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78824" y="3611880"/>
            <a:ext cx="2542032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Realtime Telemetry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Firebase RTDB Nationwide Threat Broadcast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10698480" cy="1280160"/>
          </a:xfrm>
          <a:prstGeom prst="roundRect">
            <a:avLst/>
          </a:prstGeom>
          <a:solidFill>
            <a:srgbClr val="101828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00" b="1">
                <a:solidFill>
                  <a:srgbClr val="06B6D4"/>
                </a:solidFill>
                <a:latin typeface="Consolas"/>
              </a:defRPr>
            </a:pPr>
            <a:r>
              <a:t>TEAM D43M0N$ · VIT BHOPAL UNIVERSITY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👑 Author: Yash Raj Kushwaha (26BCE10122)   •   Contributors: Aastik Tripathi (26BCY10090)  •  Mangal Nath Yadav (26BHI10047)  •  Palak Kalra (26BCY10001)</a:t>
            </a:r>
          </a:p>
          <a:p>
            <a:pPr>
              <a:spcBef>
                <a:spcPts val="400"/>
              </a:spcBef>
              <a:defRPr sz="1000">
                <a:solidFill>
                  <a:srgbClr val="F59E0B"/>
                </a:solidFill>
                <a:latin typeface="Segoe UI"/>
              </a:defRPr>
            </a:pPr>
            <a:r>
              <a:t>Presentation Structure: Theoretical Architecture (Slides)  ➜  Direct Handover to Live Interactive App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CRITICAL THREAT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Modern Financial Scams Succeed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Attackers exploit psychological panic, language barriers, and pre-click trust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1. The Scope of the Crisis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10,000+ Daily Complaints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India registers over 10,000 financial cyber fraud complaints daily across banking &amp; UPI.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₹1,750+ Crores Lost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High-frequency campaigns: fake electricity bills, digital arrest calls, KYC deactivation traps.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Social Engineering Vector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Over 85% of successful attacks exploit human decision errors, not payment gateway flaws.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Language Evasion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Threat actors use regional Hindi/Hinglish phrasing that bypass traditional English security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The 'Post-Theft' Blindspot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Reactive Protection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Firewalls, antivirus, and bank SMS warnings operate AFTER credentials or OTPs have been submitted.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Mule Account Velocity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Once a victim enters their UPI PIN or password, stolen funds are dispersed into secondary mule accounts in seconds.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Visual Mimicry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Punycode &amp; typosquatted portals (e.g. sbl-kyc.xyz) look identical to real bank websites to ordinary citizens.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Zero-Hour Fraud Window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Victims panic during 'urgent deadlines' ('Account blocked in 24 hrs'), bypassing rational caution.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The Pre-Click Defense Paradigm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Zero-Trust Architecture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Every link, message, and QR code is assumed hostile until cryptographically and heuristically proven safe.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Pre-Click Interception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ScamShield inspects incoming payloads BEFORE the user clicks or enters credentials.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Plain-English &amp; Hindi Verdicts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Explains exactly WHY a link is fake (e.g. 'Domain created 3 days ago mimicking SBI').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Client-Edge Privacy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Operates directly in the citizen's browser without uploading private images or credentials to central servers.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ATTACK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4-Stage Attack Anatomy &amp; Interception Point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Tracing 'The Scam That Almost Worked' and demonstrating exactly where ScamShield stops the kill-chain.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3B82F6"/>
                </a:solidFill>
                <a:latin typeface="Consolas"/>
              </a:defRPr>
            </a:pPr>
            <a:r>
              <a:t>STAGE 1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Initial Contact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Victim receives unsolicited SMS, WhatsApp message, or QR flyer.</a:t>
            </a:r>
          </a:p>
          <a:p>
            <a:pPr>
              <a:spcBef>
                <a:spcPts val="600"/>
              </a:spcBef>
              <a:defRPr sz="900" i="1">
                <a:solidFill>
                  <a:srgbClr val="CBD5E1"/>
                </a:solidFill>
                <a:latin typeface="Segoe UI"/>
              </a:defRPr>
            </a:pPr>
            <a:r>
              <a:t>Example: 'Electricity bill unpaid. Power disconnected tonight at 9:30 PM. Click to update.'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STAGE 2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Manufactured Panic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Psychological urgency &amp; authority impersonation (BESCOM, SBI, TRAI).</a:t>
            </a:r>
          </a:p>
          <a:p>
            <a:pPr>
              <a:spcBef>
                <a:spcPts val="600"/>
              </a:spcBef>
              <a:defRPr sz="900" i="1">
                <a:solidFill>
                  <a:srgbClr val="CBD5E1"/>
                </a:solidFill>
                <a:latin typeface="Segoe UI"/>
              </a:defRPr>
            </a:pPr>
            <a:r>
              <a:t>Artificial 24h countdown induces fear of service disconnection or legal arrest.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EF4444"/>
                </a:solidFill>
                <a:latin typeface="Consolas"/>
              </a:defRPr>
            </a:pPr>
            <a:r>
              <a:t>STAGE 3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Credential Capture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Victim clicks link to pixel-perfect clone or scans reverse-charge QR.</a:t>
            </a:r>
          </a:p>
          <a:p>
            <a:pPr>
              <a:spcBef>
                <a:spcPts val="600"/>
              </a:spcBef>
              <a:defRPr sz="900" i="1">
                <a:solidFill>
                  <a:srgbClr val="CBD5E1"/>
                </a:solidFill>
                <a:latin typeface="Segoe UI"/>
              </a:defRPr>
            </a:pPr>
            <a:r>
              <a:t>Fake portal harvests NetBanking password, OTP, or triggers UPI collect debit.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E11D48"/>
                </a:solidFill>
                <a:latin typeface="Consolas"/>
              </a:defRPr>
            </a:pPr>
            <a:r>
              <a:t>STAGE 4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Capital Siphon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Attacker liquidates account via mule bank network.</a:t>
            </a:r>
          </a:p>
          <a:p>
            <a:pPr>
              <a:spcBef>
                <a:spcPts val="600"/>
              </a:spcBef>
              <a:defRPr sz="900" i="1">
                <a:solidFill>
                  <a:srgbClr val="CBD5E1"/>
                </a:solidFill>
                <a:latin typeface="Segoe UI"/>
              </a:defRPr>
            </a:pPr>
            <a:r>
              <a:t>Transaction irreversible within minutes; stolen funds laundered via P2P transfers.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062A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defRPr sz="1100" b="1">
                <a:solidFill>
                  <a:srgbClr val="06B6D4"/>
                </a:solidFill>
                <a:latin typeface="Consolas"/>
              </a:defRPr>
            </a:pPr>
            <a:r>
              <a:t>🛡️ SCAMSHIELD AI INTERCEPTION BARRIER — INTERCEPTING BETWEEN STAGE 1 &amp; 2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Link Inspector detects typosquatted clone domains (Levenshtein distance, WHOIS age &lt; 7d, disposable TLDs) BEFORE clicking.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Multilingual NLP Engine analyzes panic keywords, authority impersonation, and Hindi/Hinglish coercion patterns in SMS text.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QR &amp; UPI Protocol Guard decodes raw payload client-side, identifying deceptive collect-request debits disguised as 'Cashback'.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DETECTION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Three Concurrent Client-Edge Forensic Pipelines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Modular, client-side inspection algorithms providing zero-trust threat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URL &amp; Link Inspector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lib/analyzers/urlAnalyzer.ts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Typosquatting &amp; Levenshtein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Measures edit distance against top Indian financial institutions (SBI, HDFC, ICICI, Axis).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Homoglyph / Punycode Checks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Detects Cyrillic and unicode character lookalikes (e.g. 'xn--' spoofing).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Disposable TLD Heuristics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Flags high-risk disposable extensions (.xyz, .top, .tk, .click, .live).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Domain Age &amp; Host Checks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Flags domains registered &lt; 7 days ago and raw IP literal hosts (http://192.168.1.1).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2. Multilingual NLP Engine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lib/analyzers/nlpEngine.ts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Devanagari &amp; Hinglish Dual-Tier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Recognizes Unicode Devanagari (\u0900-\u097F) and romanized Hinglish panic expressions.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Urgency &amp; Coercion Scoring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Identifies artificial deadlines ('24 hours', 'aaj raat 9:30 baje bijli kaat di jayegi').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Authority Impersonation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Classifies impersonation of regulatory bodies (RBI, TRAI, Police, Income Tax).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Harvesting Anomaly Detection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Detects requests for sensitive credentials (OTP, UPI PIN, CVV, APK download links).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QR &amp; UPI Protocol Guard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lib/analyzers/qrInspector.ts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Client-Edge jsQR Vision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Decodes QR images directly on HTML5 Canvas without sending user photos to any cloud server.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UPI RFC Parameter Parser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Extracts canonical parameters: Virtual Payment Address (pa), Payee Name (pn), Amount (am).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Reverse-Charge Trap Detection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Crucial defense: Flags collect requests disguised as 'Cashback / Refunds' (PIN debits account).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VPA Masquerade Analysis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Detects personal VPAs disguised as corporate utilities (e.g. bescom.bill@ybl pointing to mule).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ENTERPRISE 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Nationwide Live Threat Stream &amp; Broadcast System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Real-time threat intelligence synchronization powered by Firebase Realtime Database WebSockets.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Live Threat Stream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Nationwide Telemetry Feed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Persistent WebSocket Sync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Live listener to Firebase RTDB (threat_reports) receiving real-time scam vectors detected across India.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Live Ticker &amp; Event Counters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Animated visual status pulse indicating active threat telemetry and connection health.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One-Click Forensic Re-Inspect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Citizens and analysts can immediately pass stream IOCs into the Scanner for deep decomposition.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MITRE-Style Anomaly Badges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Displays attack labels: Typosquatting, High-Urgency SMS, Reverse UPI QR.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SecOps Threat Broadcaster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Emergency Alert Dispatcher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Admin Emergency Dispatch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Verified security analysts broadcast urgent zero-day threat advisories to all connected endpoints.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Real-Time Client Propagation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Advisories propagate instantly across citizen devices via RTDB with severity-ranked warning banners.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Comprehensive Alert Payload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Configures threat title, target URL/VPA, threat score, anomaly flags, and Zero-Trust guidance.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Collaborative Defense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Transforms isolated user scans into collective nationwide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Sovereign History Vault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Role-Based Anti-Tampering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Guest Vault (Read-Only)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Unauthenticated guests can view scans locally, but cannot delete audit trails to prevent forensic tampering.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Citizen Self-Ownership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Logged-in users retain sovereign ownership to selectively delete or clear their own cloud history records.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Admin Global Purge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SecOps administrators possess authoritative privileges to purge all scan records across RTDB (deleteAllScanHistories).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Offline LocalStorage Backup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History synchronizes seamlessly between browser storage and Firebase RTDB.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AI ADVISOR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Gemini 3.x Cyber Defense Advisor &amp; Statutory Framework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Interactive zero-trust guidance aligned with Indian cyber law and the national 1930 emergency protocol.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🤖 Gemini 3.x AI Cyber Defense Advisor (/api/advisor)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Multi-Model Resilient Fallback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Sequentially routes through production Gemini models (gemini-3-flash-preview, gemini-3.1-flash-lite) for high-availability advice.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Bilingual Intelligence (English &amp; Devanagari)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Understands queries and outputs structured responses in both English and natural Hindi for inclusive accessibility.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Zero-Trust Response Structuring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Provides clear headings, immediate containment steps (card freeze, UPI deactivation), and legal referral frameworks.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Offline Heuristic Intelligence Fallback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Includes pre-configured offline response playbooks for Advance-Fee scams, Reverse QR debits, and Digital Arrest threats.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⚖️ Statutory Indian Legal Alignment &amp; 1930 Protocol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IT Act, 2000 — Section 66D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Explicitly criminalizes cheating by personation using computer resources. Carries imprisonment up to 3 years and fines up to ₹1,00,000.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IT Act, 2000 — Section 43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Civil liability and compensation for unauthorized access, data extraction, and introducing malicious payloads into systems.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The 'Golden Hour' 1930 Protocol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The first 2 hours post-fraud are critical. Calling 1930 triggers I4C inter-bank nodal officers to freeze stolen capital before cash withdrawal.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National Reporting Portals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Direct integration referrals to cybercrime.gov.in and Department of Telecom Chakshu Portal (sancharsaathi.gov.in/Chakshu).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RIGOROUS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Empirical Benchmark: 98% Detection Accuracy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Evaluated against a sanitized 100-sample test corpus comprising 50 active scam vectors and 50 verified legitimate interactions.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950" b="1">
                <a:solidFill>
                  <a:srgbClr val="94A3B8"/>
                </a:solidFill>
                <a:latin typeface="Consolas"/>
              </a:defRPr>
            </a:pPr>
            <a:r>
              <a:t>ACCURACY</a:t>
            </a:r>
          </a:p>
          <a:p>
            <a:pPr>
              <a:spcBef>
                <a:spcPts val="200"/>
              </a:spcBef>
              <a:defRPr sz="2200" b="1">
                <a:solidFill>
                  <a:srgbClr val="10B981"/>
                </a:solidFill>
                <a:latin typeface="Segoe UI"/>
              </a:defRPr>
            </a:pPr>
            <a:r>
              <a:t>98.0%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98 / 100 Correct Classifications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64592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950" b="1">
                <a:solidFill>
                  <a:srgbClr val="94A3B8"/>
                </a:solidFill>
                <a:latin typeface="Consolas"/>
              </a:defRPr>
            </a:pPr>
            <a:r>
              <a:t>PRECISION</a:t>
            </a:r>
          </a:p>
          <a:p>
            <a:pPr>
              <a:spcBef>
                <a:spcPts val="200"/>
              </a:spcBef>
              <a:defRPr sz="2200" b="1">
                <a:solidFill>
                  <a:srgbClr val="06B6D4"/>
                </a:solidFill>
                <a:latin typeface="Segoe UI"/>
              </a:defRPr>
            </a:pPr>
            <a:r>
              <a:t>98.0%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TP / (TP + FP) — Low False Alarms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64592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950" b="1">
                <a:solidFill>
                  <a:srgbClr val="94A3B8"/>
                </a:solidFill>
                <a:latin typeface="Consolas"/>
              </a:defRPr>
            </a:pPr>
            <a:r>
              <a:t>RECALL</a:t>
            </a:r>
          </a:p>
          <a:p>
            <a:pPr>
              <a:spcBef>
                <a:spcPts val="200"/>
              </a:spcBef>
              <a:defRPr sz="2200" b="1">
                <a:solidFill>
                  <a:srgbClr val="A855F7"/>
                </a:solidFill>
                <a:latin typeface="Segoe UI"/>
              </a:defRPr>
            </a:pPr>
            <a:r>
              <a:t>98.0%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TP / (TP + FN) — 49 / 50 Scams Caught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78824" y="164592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950" b="1">
                <a:solidFill>
                  <a:srgbClr val="94A3B8"/>
                </a:solidFill>
                <a:latin typeface="Consolas"/>
              </a:defRPr>
            </a:pPr>
            <a:r>
              <a:t>F1-SCORE</a:t>
            </a:r>
          </a:p>
          <a:p>
            <a:pPr>
              <a:spcBef>
                <a:spcPts val="200"/>
              </a:spcBef>
              <a:defRPr sz="2200" b="1">
                <a:solidFill>
                  <a:srgbClr val="F59E0B"/>
                </a:solidFill>
                <a:latin typeface="Segoe UI"/>
              </a:defRPr>
            </a:pPr>
            <a:r>
              <a:t>98.0%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Harmonic Mean of Precision &amp;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12080" cy="3063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2×2 Empirical Confusion Matrix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True Positives (TP = 49): Active scam URLs, phishing SMS, and reverse UPI QRs accurately intercepted and scored HIGH_RISK.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False Positives (FP = 1): Only 1 legitimate message flagged due to conservative urgency weighting (safe side bias).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False Negatives (FN = 1): 1 novel phrasing variant; automatically routed to community reporting.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True Negatives (TN = 49): Official bank notifications and verified merchant QRs identified as SAFE with 0 false alarms.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63240"/>
            <a:ext cx="5212080" cy="3063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Standardized Threat Scoring System (0–100)</a:t>
            </a:r>
          </a:p>
          <a:p>
            <a:pPr>
              <a:spcBef>
                <a:spcPts val="500"/>
              </a:spcBef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• Weighted Heuristic Formula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Score = (Domain Anomaly × 0.40) + (NLP Panic × 0.35) + (Protocol Masquerade × 0.25).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🟢 SAFE (Score 0 – 29)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Verified authentic domains, valid certificates, standard transactional receipts.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🟡 SUSPICIOUS (Score 30 – 64)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Mild urgency keywords or unknown merchant VPAs; cautionary advice issued.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🔴 HIGH RISK (Score 65 – 100)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Critical scam: typosquatting, reverse QR debit trap, or severe coercion. Immediate block recommended.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Modern Production-Grade Technology Stack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Full-stack Next.js 15 architecture engineered for sub-second responsiveness and zero-latency WebSocket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Frontend &amp; UI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Next.js 15 &amp; React 19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Modern App Router with client-side reactive components and server route optimization.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Tailwind CSS Variables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High-craft minimalist UI inspired by ElevenLabs with 5 selectable themes.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Lucide React Icons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Crisp, consistent iconography across all forensic dashboards.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Responsive Layout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Mobile-first experience for citizens scanning suspicious links on smartphones.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645920"/>
            <a:ext cx="2542032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Backend &amp; Cloud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Firebase RTDB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WebSocket-based persistent sync for live threat streams, scans, and site configuration.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Google Authentication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Firebase Auth enabling citizen scan history vaults and admin role enforcement.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Next.js API Routes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Production endpoints for /api/advisor, /api/analyze, /api/benchmark, and /api/reports.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Client Cache Sync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Dual-sync persistence across browser localStorage and cloud RTDB.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645920"/>
            <a:ext cx="2542032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Vision &amp; AI Core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Client-Edge jsQR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In-browser QR code extraction via HTML5 Canvas — 0% server image exposure.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Google Gemini Flash API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Advanced reasoning for natural language incident response and legal advice.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Zero-Trust Regex Core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Custom high-speed patterns for Punycode, typosquatting, and UPI RFC protocols.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Offline Fallbacks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Resilient heuristic engine operates seamlessly even during network degradation.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78824" y="1645920"/>
            <a:ext cx="2542032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Security &amp; DevOps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Push-Protection Hygiene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Strict credential separation via .env.local; zero secrets checked into git repository.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Clean Git Commit History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Pushed cleanly to GitHub (YashRaj-Kushwaha/ScamShield-AI) tracking main branch.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Automated Test Harness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100-sample benchmark runner validating accuracy before deployment.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Vercel Ready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Production-optimized build with standalone chunks and static page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LIVE APPLICATION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Interactive Live Demonstration Roadmap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Seamless transition from theoretical architecture to active hands-on application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6596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DEMO STEP 1</a:t>
            </a:r>
          </a:p>
          <a:p>
            <a:pPr>
              <a:spcBef>
                <a:spcPts val="3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Threat Scanner</a:t>
            </a:r>
          </a:p>
          <a:p>
            <a:pPr>
              <a:spcBef>
                <a:spcPts val="8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Scanning live phishing URLs (SBI bank clone) &amp; reverse UPI QRs disguised as cashbacks; observing instant Red/Green verdicts.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45920"/>
            <a:ext cx="196596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defRPr sz="950" b="1">
                <a:solidFill>
                  <a:srgbClr val="F59E0B"/>
                </a:solidFill>
                <a:latin typeface="Consolas"/>
              </a:defRPr>
            </a:pPr>
            <a:r>
              <a:t>DEMO STEP 2</a:t>
            </a:r>
          </a:p>
          <a:p>
            <a:pPr>
              <a:spcBef>
                <a:spcPts val="3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Attack Simulator</a:t>
            </a:r>
          </a:p>
          <a:p>
            <a:pPr>
              <a:spcBef>
                <a:spcPts val="8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Stepping through the 4-stage anatomy of a scam and viewing the visual pre-click interception barrier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196596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defRPr sz="950" b="1">
                <a:solidFill>
                  <a:srgbClr val="A855F7"/>
                </a:solidFill>
                <a:latin typeface="Consolas"/>
              </a:defRPr>
            </a:pPr>
            <a:r>
              <a:t>DEMO STEP 3</a:t>
            </a:r>
          </a:p>
          <a:p>
            <a:pPr>
              <a:spcBef>
                <a:spcPts val="3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Live Threat Stream</a:t>
            </a:r>
          </a:p>
          <a:p>
            <a:pPr>
              <a:spcBef>
                <a:spcPts val="8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Demonstrating the WebSocket live threat stream ticker and one-click IOC re-inspection directly into the scanner.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645920"/>
            <a:ext cx="196596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DEMO STEP 4</a:t>
            </a:r>
          </a:p>
          <a:p>
            <a:pPr>
              <a:spcBef>
                <a:spcPts val="3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Gemini AI Advisor</a:t>
            </a:r>
          </a:p>
          <a:p>
            <a:pPr>
              <a:spcBef>
                <a:spcPts val="8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Querying live Hindi &amp; English emergency cyber incident guidance and viewing statutory 1930 Golden Hour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645920"/>
            <a:ext cx="196596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defRPr sz="950" b="1">
                <a:solidFill>
                  <a:srgbClr val="EF4444"/>
                </a:solidFill>
                <a:latin typeface="Consolas"/>
              </a:defRPr>
            </a:pPr>
            <a:r>
              <a:t>DEMO STEP 5</a:t>
            </a:r>
          </a:p>
          <a:p>
            <a:pPr>
              <a:spcBef>
                <a:spcPts val="3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Admin Operations</a:t>
            </a:r>
          </a:p>
          <a:p>
            <a:pPr>
              <a:spcBef>
                <a:spcPts val="8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Dispatching an emergency threat broadcast across the platform and demonstrating the sovereign RTDB history purge.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0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100" b="1">
                <a:solidFill>
                  <a:srgbClr val="06B6D4"/>
                </a:solidFill>
                <a:latin typeface="Consolas"/>
              </a:defRPr>
            </a:pPr>
            <a:r>
              <a:t>🎯 READY FOR EVALUATION · SWITCHING TO LIVE RUNNING INSTANCE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Now stepping into the live web application (http://localhost:3000) to showcase active client-edge execution across URLs, SMS messages, and QR codes.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SUMMARY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Building Beyond Boundaries: Protecting Digital India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Empowering 1 billion+ citizens with proactive, pre-click cybersecurity defense.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🛡️ Core Impact &amp; Strategic Value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Proactive Pre-Click Paradigm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Shifts defense from post-incident banking forensics to pre-click citizen protection. Stops the scam before the victim enters their credentials or UPI PIN.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Linguistic &amp; Social Inclusion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Removes language barriers for rural and first-time UPI users with dual-tier Hindi/Hinglish analysis and Devanagari guidance.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Zero-Trust Edge Privacy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Analyzes QR codes and links entirely within the client's browser without storing or uploading sensitive user photos or messages.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Collective Community Defense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Synchronizes citizen incident stories and SecOps alerts nationwide in real-time through WebSocket-based threat streaming.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👥 Author &amp; Contributors — Team D43M0N$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👑 Yash Raj Kushwaha (Author &amp; Lead)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github.com/YashRaj-Kushwaha · Reg: 26BCE10122 · Architecture &amp; Full-Stack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🛡️ Aastik Tripathi (Contributor)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github.com/DarkDevil811 · Reg: 26BCY10090 · Security &amp; Threat Scoring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🔍 Mangal Nath Yadav (Contributor)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github.com/shadowXg · Reg: 26BHI10047 · UPI &amp; QR Protocol Parsing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⚖️ Palak Kalra (Contributor)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github.com/palak-kalra-gtihub · Reg: 26BCY10001 · Multilingual NLP &amp; Intelligence</a:t>
            </a:r>
          </a:p>
          <a:p>
            <a:pPr>
              <a:spcBef>
                <a:spcPts val="1200"/>
              </a:spcBef>
              <a:defRPr sz="950" b="1">
                <a:solidFill>
                  <a:srgbClr val="06B6D4"/>
                </a:solidFill>
                <a:latin typeface="Consolas"/>
              </a:defRPr>
            </a:pPr>
            <a:r>
              <a:t>🔗 GitHub Repository: github.com/YashRaj-Kushwaha/ScamShield-AI</a:t>
            </a:r>
          </a:p>
          <a:p>
            <a:pPr>
              <a:spcBef>
                <a:spcPts val="400"/>
              </a:spcBef>
              <a:defRPr sz="1050" i="1">
                <a:solidFill>
                  <a:srgbClr val="F59E0B"/>
                </a:solidFill>
                <a:latin typeface="Segoe UI"/>
              </a:defRPr>
            </a:pPr>
            <a:r>
              <a:t>Thank you, Judges &amp; Evaluators!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